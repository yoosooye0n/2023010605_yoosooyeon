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64" r:id="rId4"/>
    <p:sldId id="265" r:id="rId5"/>
    <p:sldId id="266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43"/>
    <p:restoredTop sz="94658"/>
  </p:normalViewPr>
  <p:slideViewPr>
    <p:cSldViewPr snapToGrid="0">
      <p:cViewPr varScale="1">
        <p:scale>
          <a:sx n="111" d="100"/>
          <a:sy n="111" d="100"/>
        </p:scale>
        <p:origin x="23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5F320-0BA0-934E-BEB5-C63575E9E27D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276A5-92BB-034C-BAD8-C5B0AE0D296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123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8836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0E167-1F1D-8788-A149-4BAF0F99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74192A-E9B1-1B3C-6A95-FE8D42A3D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4A6781-F871-DD2B-E5D3-DBF614CDB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39DB7F-2222-D0CC-18D1-F6BA470A3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2097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03F24-917C-42F3-B813-B9317F79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01D0F9-3079-BBFC-ABC0-7BA238A61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7F473B-98FA-AFA4-8FF2-16E66526F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4D8183-F5A0-10C7-FA00-046D5366B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1039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4FF56-9C26-A8C4-E05E-CE15F8DC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61EADC-B35D-BE26-08D9-9AEA31994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3DEC6A-AA58-4FE1-0861-6D5240B5F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A325C7-EBF3-CFEE-25BD-7C3940D70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3347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F6F15-9D81-5EF0-99FA-A3B0E1EF3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4811F0-2792-38C4-DF48-18E34BFE0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BC1962-2B41-8154-F302-43F757B39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3E7CF5-9469-3F70-F844-89ED638AA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86904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BE66E-1A91-7074-F011-3F0D500E9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E0720D-1910-C12C-7D3F-592F61129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5AA64F-5B6A-0691-232B-F30C8579D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21230E-C2F1-F4E8-511A-320A2D6FCC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38078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A05B4-3B65-0867-BAA0-561473D9F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E7A363-2200-F7A1-325B-2A5DA167F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C23424-3AB3-4516-C329-5A0C18AF9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B72FB6-86DD-9484-EB34-4A420DB8F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3602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457FE-11C8-E399-0799-025D172E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57CC51-C2ED-1294-39A1-16FFDAA1D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340DE9-9536-38AE-EAED-333748E41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B98567-A415-CD7C-EA5A-F81F7B797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8198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00EB2C-4141-6EB0-CF31-EECD087E2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4E5252-ABF1-5A80-83EA-0F429133C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69A7DB-945C-FC62-588D-DECCA31F2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BEFAAB-F0D5-93A5-0420-57D595315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AA0F1F-CD95-2ADC-5735-50D2B058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1336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E79A7-E746-48B6-9586-DD1F56F07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F98F21-3805-DC3F-7391-372734F81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FDF4E1-6B8B-8D65-5843-E9DA53088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30D1B9-26B3-CB3D-457A-E423E081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4EAECC-99F3-73D9-0A09-DFEE0911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182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04A07-4492-2E96-5055-898D3193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841A7C-F83E-575C-E5BD-D8B772020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99D7AF-45B6-1B13-23B2-CBC2BB7F3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4703BC-94BD-92DF-4DAF-FA63B9B1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65664D-8A63-C0CF-80E7-672B25E16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41398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39E62-12E2-48EF-2B48-B03C76FA2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3EB30F-49AA-1876-A3A8-B5B75C8D6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500DAD-EECB-5F51-946B-95AE34304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78C835-2D7B-C1D2-8C35-6FA556BAB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B9EC01-C59F-E535-88E5-063C6998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882BD6-975D-8891-F433-AEC07F60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1332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4B3C5-F743-82A1-6BF1-FF80D5C57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4CBE98-DD71-BA6A-334E-4FB34CBE2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A201B7-700F-B28B-A7CD-1C2FE4A26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82B231-2119-01DF-631F-050700EEA8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512946-3487-A2D9-282D-A55D6BCCD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0DD54C-E2C4-A136-9F26-C41C1A09F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840A3B-EC5E-ACF3-E95E-BCAED04C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7D9D11-E414-BE4A-0833-BCE42F63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6668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C2CBD-F75F-C277-BCEA-3EBEAC522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21E3AE-32F4-C435-E30B-5D156966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CA4F2B-316D-A6D6-12B4-142EBBC2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17DA0F-6481-DDB7-06F5-41B5C52E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80856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0D398D-EFFA-64EA-9AFB-6187762A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20B096-BC1A-D274-999A-A194BD2B4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D8535-772A-61C8-BC54-7370C11B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185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8CE0D-7DCC-7276-8F4E-D74222FC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BED4B2-408B-085A-083B-25AB276CC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0FA66F-B853-019C-31EE-DFEE55BCA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5AD806-479B-AB48-5B8B-DFAB5C9D7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54F6CC-1740-3C5D-B924-48E4FF31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AF5A58-9618-F3DD-C83B-062D071A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822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D6581-D60B-14A7-A810-008EC735A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A97C583-5027-07FB-7808-875F546283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92B5CF-76E3-E6CA-07F2-AB00E4E43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703CBD-0B0F-7313-F519-F053C6866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B8072D-99CD-4623-06D0-A3AE11D3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935B0A-C960-0A75-93B0-9747F1ADB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2971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55783-DA3E-C66F-5B10-70A09089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6C9046-F8FC-D6D5-D5A4-92CD4AF7D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941108-0B1B-7753-1763-C2753CED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CB05A6-8BAE-FA4A-A534-AC639E910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3E4747-6E7E-15CF-6DD3-EAB69EDC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587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061755-DCF2-5EE9-B5D8-F6CF6E507F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A04631-607C-99BA-0B54-08F4E68C0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801819-8CD9-BF43-EBD8-964CE1566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392570-E609-6299-85C9-1214E41D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9B83E9-399D-311F-6B15-6960D9E9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742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FA25B2-B229-BE56-CF93-292142CF5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D7FA9C-D323-E425-DCE8-7A8CD93F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7B4EDC-24E3-58BD-E9F7-40732E454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F2EDB4-4248-0D4F-A2E0-3494E2E745D6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7EFD2E-B472-F059-68FB-18A8FCEDF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DB3E17-A478-8239-A997-004FC02CF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6446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8B3185-64CD-BA5C-98D3-355E0208B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76777"/>
            <a:ext cx="9144000" cy="2387600"/>
          </a:xfrm>
        </p:spPr>
        <p:txBody>
          <a:bodyPr>
            <a:normAutofit/>
          </a:bodyPr>
          <a:lstStyle/>
          <a:p>
            <a:r>
              <a:rPr kumimoji="1" lang="ko-KR" altLang="en-US" b="1" dirty="0" err="1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전산유체해석실습</a:t>
            </a:r>
            <a:r>
              <a:rPr kumimoji="1" lang="ko-KR" altLang="en-US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보고서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E965E2-4E94-792D-1556-8F2A15069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2742" y="4687423"/>
            <a:ext cx="9144000" cy="1655762"/>
          </a:xfrm>
        </p:spPr>
        <p:txBody>
          <a:bodyPr>
            <a:normAutofit/>
          </a:bodyPr>
          <a:lstStyle/>
          <a:p>
            <a:pPr algn="r"/>
            <a:endParaRPr kumimoji="1" lang="en-US" altLang="ko-KR" sz="2000" b="1" dirty="0">
              <a:latin typeface="NanumGothic" panose="020D0604000000000000" pitchFamily="34" charset="-127"/>
              <a:ea typeface="NanumGothic" panose="020D0604000000000000" pitchFamily="34" charset="-127"/>
              <a:cs typeface="Gill Sans SemiBold" panose="020B0502020104020203" pitchFamily="34" charset="-79"/>
            </a:endParaRPr>
          </a:p>
          <a:p>
            <a:pPr algn="r"/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11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월 </a:t>
            </a: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26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일</a:t>
            </a:r>
            <a:endParaRPr kumimoji="1" lang="en-US" altLang="ko-KR" sz="2000" b="1" dirty="0">
              <a:latin typeface="NanumGothic" panose="020D0604000000000000" pitchFamily="34" charset="-127"/>
              <a:ea typeface="NanumGothic" panose="020D0604000000000000" pitchFamily="34" charset="-127"/>
              <a:cs typeface="Gill Sans SemiBold" panose="020B0502020104020203" pitchFamily="34" charset="-79"/>
            </a:endParaRPr>
          </a:p>
          <a:p>
            <a:pPr algn="r"/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항공기계공학과</a:t>
            </a:r>
            <a:endParaRPr kumimoji="1" lang="en-US" altLang="ko-KR" sz="2000" b="1" dirty="0">
              <a:latin typeface="NanumGothic" panose="020D0604000000000000" pitchFamily="34" charset="-127"/>
              <a:ea typeface="NanumGothic" panose="020D0604000000000000" pitchFamily="34" charset="-127"/>
              <a:cs typeface="Gill Sans SemiBold" panose="020B0502020104020203" pitchFamily="34" charset="-79"/>
            </a:endParaRPr>
          </a:p>
          <a:p>
            <a:pPr algn="r"/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2023010605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 유수연</a:t>
            </a:r>
          </a:p>
        </p:txBody>
      </p:sp>
    </p:spTree>
    <p:extLst>
      <p:ext uri="{BB962C8B-B14F-4D97-AF65-F5344CB8AC3E}">
        <p14:creationId xmlns:p14="http://schemas.microsoft.com/office/powerpoint/2010/main" val="244257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AE88F-7346-3722-8778-47B45C45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B56F419-ABC0-6C5F-5D4E-A53E3E4FD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F9BE1EF-82B2-CE09-A468-1A2889D6D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과제 </a:t>
            </a:r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NASA Case_2565</a:t>
            </a:r>
            <a:endParaRPr kumimoji="1" lang="ko-KR" altLang="en-US" sz="4000" b="1" dirty="0">
              <a:latin typeface="NANUMGOTHIC EXTRABOLD" panose="020D0604000000000000" pitchFamily="34" charset="-127"/>
              <a:ea typeface="NANUMGOTHIC EXTRABOLD" panose="020D0604000000000000" pitchFamily="34" charset="-127"/>
              <a:cs typeface="Gill Sans" panose="020B0502020104020203" pitchFamily="34" charset="-79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30B5CC-4D33-2CC6-C7B3-CCBB464B6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39" y="1305518"/>
            <a:ext cx="11497935" cy="4628407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kumimoji="1" lang="en-US" altLang="ko-KR" sz="20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cmd</a:t>
            </a:r>
            <a:r>
              <a:rPr kumimoji="1" lang="ko-KR" altLang="en-US" sz="20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를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돌려준 뒤 지난 실습과 같이 만들어줍니다</a:t>
            </a:r>
            <a:endParaRPr kumimoji="1"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kumimoji="1"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74C37323-112C-7383-703A-B3CAB1082C26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그림 4" descr="텍스트, 스크린샷, 폰트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554652-29DF-B5E8-CDFD-1FE4922AA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69" y="1730829"/>
            <a:ext cx="4615180" cy="4819650"/>
          </a:xfrm>
          <a:prstGeom prst="rect">
            <a:avLst/>
          </a:prstGeom>
        </p:spPr>
      </p:pic>
      <p:pic>
        <p:nvPicPr>
          <p:cNvPr id="13" name="그림 12" descr="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2D056D-C6E3-046F-D1E6-993CC20A3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113" y="1368694"/>
            <a:ext cx="4856864" cy="514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46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CBAE9-1393-6BA1-D9D9-8528D2C0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BC03692-B01C-D042-4E8E-F6391D4A2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DE60857-6316-9A1A-4905-6879C854A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과제 </a:t>
            </a:r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NASA Case_2565</a:t>
            </a:r>
            <a:endParaRPr kumimoji="1" lang="ko-KR" altLang="en-US" sz="4000" b="1" dirty="0">
              <a:latin typeface="NANUMGOTHIC EXTRABOLD" panose="020D0604000000000000" pitchFamily="34" charset="-127"/>
              <a:ea typeface="NANUMGOTHIC EXTRABOLD" panose="020D0604000000000000" pitchFamily="34" charset="-127"/>
              <a:cs typeface="Gill Sans" panose="020B0502020104020203" pitchFamily="34" charset="-79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E5C744-07A0-4F44-897E-E56CE279B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39" y="1305518"/>
            <a:ext cx="11497935" cy="4628407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kumimoji="1" lang="en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Pressure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로 변경해준 뒤 </a:t>
            </a:r>
            <a:r>
              <a:rPr kumimoji="1" lang="en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Surface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에서 </a:t>
            </a:r>
            <a:r>
              <a:rPr kumimoji="1" lang="en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Slice</a:t>
            </a:r>
            <a:r>
              <a:rPr kumimoji="1" lang="ko-KR" altLang="en-US" sz="20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를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각각 </a:t>
            </a:r>
            <a:r>
              <a:rPr kumimoji="1" lang="en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Z-</a:t>
            </a:r>
            <a:r>
              <a:rPr kumimoji="1" lang="en" altLang="ko-KR" sz="20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nomal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로</a:t>
            </a:r>
          </a:p>
          <a:p>
            <a:pPr marL="0" indent="0">
              <a:buNone/>
            </a:pP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각 </a:t>
            </a:r>
            <a:r>
              <a:rPr kumimoji="1" lang="en-US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0.5,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0.68,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0.80,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0.89,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0.96</a:t>
            </a:r>
            <a:r>
              <a:rPr kumimoji="1" lang="ko-KR" altLang="en-US" sz="20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으로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" altLang="ko-KR" sz="2000" dirty="0"/>
              <a:t>Slice</a:t>
            </a:r>
            <a:r>
              <a:rPr lang="ko-KR" altLang="en-US" sz="2000" dirty="0"/>
              <a:t>해줍니다</a:t>
            </a:r>
            <a:r>
              <a:rPr lang="en-US" altLang="ko-KR" sz="2000" dirty="0"/>
              <a:t>.</a:t>
            </a:r>
          </a:p>
          <a:p>
            <a:pPr>
              <a:buFontTx/>
              <a:buChar char="-"/>
            </a:pPr>
            <a:endParaRPr kumimoji="1"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buFontTx/>
              <a:buChar char="-"/>
            </a:pP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다음으로 </a:t>
            </a:r>
            <a:r>
              <a:rPr kumimoji="1" lang="en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Plot data</a:t>
            </a:r>
            <a:r>
              <a:rPr kumimoji="1" lang="ko-KR" altLang="en-US" sz="20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를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실행하여 우측의 사진과 같이</a:t>
            </a:r>
            <a:endParaRPr kumimoji="1"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None/>
            </a:pP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설정해줍니다</a:t>
            </a:r>
            <a:r>
              <a:rPr kumimoji="1" lang="en-US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endParaRPr kumimoji="1" lang="en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buFontTx/>
              <a:buChar char="-"/>
            </a:pPr>
            <a:endParaRPr kumimoji="1"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kumimoji="1"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6108D360-C2A6-4BE6-D33F-614D8DFEFBCC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그림 5" descr="다채로움, 스크린샷, 직사각형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58F63C-5F09-49A3-517D-D151222C1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43" y="4272949"/>
            <a:ext cx="10944265" cy="2318243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3A8DF22E-28EF-F613-8A4B-B99B3CD7E919}"/>
              </a:ext>
            </a:extLst>
          </p:cNvPr>
          <p:cNvGrpSpPr/>
          <p:nvPr/>
        </p:nvGrpSpPr>
        <p:grpSpPr>
          <a:xfrm>
            <a:off x="7812911" y="1293047"/>
            <a:ext cx="3999450" cy="2318243"/>
            <a:chOff x="8836991" y="1156658"/>
            <a:chExt cx="2712279" cy="1538307"/>
          </a:xfrm>
        </p:grpSpPr>
        <p:pic>
          <p:nvPicPr>
            <p:cNvPr id="8" name="그림 7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0B29EC9-42AA-4BD5-9317-74FC8813E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36992" y="1156658"/>
              <a:ext cx="2712278" cy="1538307"/>
            </a:xfrm>
            <a:prstGeom prst="rect">
              <a:avLst/>
            </a:prstGeom>
          </p:spPr>
        </p:pic>
        <p:sp>
          <p:nvSpPr>
            <p:cNvPr id="10" name="액자 9">
              <a:extLst>
                <a:ext uri="{FF2B5EF4-FFF2-40B4-BE49-F238E27FC236}">
                  <a16:creationId xmlns:a16="http://schemas.microsoft.com/office/drawing/2014/main" id="{904E3828-6405-F8C3-4B85-3C8DB099E8AA}"/>
                </a:ext>
              </a:extLst>
            </p:cNvPr>
            <p:cNvSpPr/>
            <p:nvPr/>
          </p:nvSpPr>
          <p:spPr>
            <a:xfrm>
              <a:off x="8836991" y="1339628"/>
              <a:ext cx="1072321" cy="171120"/>
            </a:xfrm>
            <a:prstGeom prst="frame">
              <a:avLst>
                <a:gd name="adj1" fmla="val 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액자 10">
              <a:extLst>
                <a:ext uri="{FF2B5EF4-FFF2-40B4-BE49-F238E27FC236}">
                  <a16:creationId xmlns:a16="http://schemas.microsoft.com/office/drawing/2014/main" id="{6FAC6B56-9553-DF52-A947-11EAB896AB06}"/>
                </a:ext>
              </a:extLst>
            </p:cNvPr>
            <p:cNvSpPr/>
            <p:nvPr/>
          </p:nvSpPr>
          <p:spPr>
            <a:xfrm>
              <a:off x="9486347" y="1554170"/>
              <a:ext cx="2062923" cy="171120"/>
            </a:xfrm>
            <a:prstGeom prst="frame">
              <a:avLst>
                <a:gd name="adj1" fmla="val 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액자 11">
              <a:extLst>
                <a:ext uri="{FF2B5EF4-FFF2-40B4-BE49-F238E27FC236}">
                  <a16:creationId xmlns:a16="http://schemas.microsoft.com/office/drawing/2014/main" id="{F59910EC-37D2-64FA-D167-10BD410544D2}"/>
                </a:ext>
              </a:extLst>
            </p:cNvPr>
            <p:cNvSpPr/>
            <p:nvPr/>
          </p:nvSpPr>
          <p:spPr>
            <a:xfrm>
              <a:off x="8877850" y="2326867"/>
              <a:ext cx="2323550" cy="248400"/>
            </a:xfrm>
            <a:prstGeom prst="frame">
              <a:avLst>
                <a:gd name="adj1" fmla="val 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769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3646A-B6CD-3BD6-CF9C-D4783038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79ABF5-2AEF-2828-A155-C8964C578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F468D8-24B3-9F8B-2651-05448988B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과제 </a:t>
            </a:r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NASA Case_2565</a:t>
            </a:r>
            <a:endParaRPr kumimoji="1" lang="ko-KR" altLang="en-US" sz="4000" b="1" dirty="0">
              <a:latin typeface="NANUMGOTHIC EXTRABOLD" panose="020D0604000000000000" pitchFamily="34" charset="-127"/>
              <a:ea typeface="NANUMGOTHIC EXTRABOLD" panose="020D0604000000000000" pitchFamily="34" charset="-127"/>
              <a:cs typeface="Gill Sans" panose="020B0502020104020203" pitchFamily="34" charset="-79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0D3AFF8A-DC6A-46C4-411F-B654C25CA741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그림 7" descr="라인, 도표, 평행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4C443A-8F99-6D32-EB27-B29930FA3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29" y="1156658"/>
            <a:ext cx="3543889" cy="3692324"/>
          </a:xfrm>
          <a:prstGeom prst="rect">
            <a:avLst/>
          </a:prstGeom>
        </p:spPr>
      </p:pic>
      <p:pic>
        <p:nvPicPr>
          <p:cNvPr id="11" name="그림 10" descr="라인, 도표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D63F6A-5E30-3B09-41A9-AF49C7450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673" y="2580884"/>
            <a:ext cx="3896025" cy="4066306"/>
          </a:xfrm>
          <a:prstGeom prst="rect">
            <a:avLst/>
          </a:prstGeom>
        </p:spPr>
      </p:pic>
      <p:pic>
        <p:nvPicPr>
          <p:cNvPr id="13" name="그림 12" descr="라인, 도표, 그래프, 종이접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FD8D5D-E309-C77B-4995-B57B1BA62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9853" y="1156658"/>
            <a:ext cx="4017480" cy="4178459"/>
          </a:xfrm>
          <a:prstGeom prst="rect">
            <a:avLst/>
          </a:prstGeom>
        </p:spPr>
      </p:pic>
      <p:sp>
        <p:nvSpPr>
          <p:cNvPr id="14" name="부제목 2">
            <a:extLst>
              <a:ext uri="{FF2B5EF4-FFF2-40B4-BE49-F238E27FC236}">
                <a16:creationId xmlns:a16="http://schemas.microsoft.com/office/drawing/2014/main" id="{F428D9A2-5734-9FB9-1027-8CBB56734D77}"/>
              </a:ext>
            </a:extLst>
          </p:cNvPr>
          <p:cNvSpPr txBox="1">
            <a:spLocks/>
          </p:cNvSpPr>
          <p:nvPr/>
        </p:nvSpPr>
        <p:spPr>
          <a:xfrm>
            <a:off x="1484677" y="4985361"/>
            <a:ext cx="1025883" cy="428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[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 </a:t>
            </a: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0.5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 </a:t>
            </a: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]</a:t>
            </a: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84D9DDBC-594B-0198-44D6-53291A7A2879}"/>
              </a:ext>
            </a:extLst>
          </p:cNvPr>
          <p:cNvSpPr txBox="1">
            <a:spLocks/>
          </p:cNvSpPr>
          <p:nvPr/>
        </p:nvSpPr>
        <p:spPr>
          <a:xfrm>
            <a:off x="5432789" y="2155780"/>
            <a:ext cx="1025883" cy="4285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[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 </a:t>
            </a: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0.68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 </a:t>
            </a: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]</a:t>
            </a:r>
          </a:p>
        </p:txBody>
      </p:sp>
      <p:sp>
        <p:nvSpPr>
          <p:cNvPr id="17" name="부제목 2">
            <a:extLst>
              <a:ext uri="{FF2B5EF4-FFF2-40B4-BE49-F238E27FC236}">
                <a16:creationId xmlns:a16="http://schemas.microsoft.com/office/drawing/2014/main" id="{D990CA05-BB43-9610-9326-A276A3C86757}"/>
              </a:ext>
            </a:extLst>
          </p:cNvPr>
          <p:cNvSpPr txBox="1">
            <a:spLocks/>
          </p:cNvSpPr>
          <p:nvPr/>
        </p:nvSpPr>
        <p:spPr>
          <a:xfrm>
            <a:off x="9617697" y="5453678"/>
            <a:ext cx="1025883" cy="4285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[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 </a:t>
            </a: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0.80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 </a:t>
            </a: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738107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8545F-C25A-EB83-F2ED-CFDA66685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32DA3BD-66FB-A8AC-9751-7D5863432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1607459-0742-0AAD-F15D-9918426EE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과제 </a:t>
            </a:r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NASA Case_2565</a:t>
            </a:r>
            <a:endParaRPr kumimoji="1" lang="ko-KR" altLang="en-US" sz="4000" b="1" dirty="0">
              <a:latin typeface="NANUMGOTHIC EXTRABOLD" panose="020D0604000000000000" pitchFamily="34" charset="-127"/>
              <a:ea typeface="NANUMGOTHIC EXTRABOLD" panose="020D0604000000000000" pitchFamily="34" charset="-127"/>
              <a:cs typeface="Gill Sans" panose="020B0502020104020203" pitchFamily="34" charset="-79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724E2AE4-C511-7FEE-7CEB-5AE7D902274F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그림 3" descr="라인, 도표, 그래프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6C83C5-33E5-0F31-C0B8-140274D44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48" y="1094709"/>
            <a:ext cx="4741721" cy="4948602"/>
          </a:xfrm>
          <a:prstGeom prst="rect">
            <a:avLst/>
          </a:prstGeom>
        </p:spPr>
      </p:pic>
      <p:pic>
        <p:nvPicPr>
          <p:cNvPr id="6" name="그림 5" descr="라인, 도표, 그래프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1F3E32-6672-3CB3-8E7A-D58FB02C2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338" y="1094709"/>
            <a:ext cx="4749663" cy="4948602"/>
          </a:xfrm>
          <a:prstGeom prst="rect">
            <a:avLst/>
          </a:prstGeom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D306842B-BB6E-A1F8-3B8C-4723E797D701}"/>
              </a:ext>
            </a:extLst>
          </p:cNvPr>
          <p:cNvSpPr txBox="1">
            <a:spLocks/>
          </p:cNvSpPr>
          <p:nvPr/>
        </p:nvSpPr>
        <p:spPr>
          <a:xfrm>
            <a:off x="2230235" y="6117740"/>
            <a:ext cx="1051545" cy="4285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[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 </a:t>
            </a: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0.89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 </a:t>
            </a: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]</a:t>
            </a: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930A7FBB-D753-D9DB-520F-1AC2AF6CD77B}"/>
              </a:ext>
            </a:extLst>
          </p:cNvPr>
          <p:cNvSpPr txBox="1">
            <a:spLocks/>
          </p:cNvSpPr>
          <p:nvPr/>
        </p:nvSpPr>
        <p:spPr>
          <a:xfrm>
            <a:off x="8464396" y="6124371"/>
            <a:ext cx="1051545" cy="4285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[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 </a:t>
            </a: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0.96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 </a:t>
            </a:r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55844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A3AEF-4749-07C0-BD51-CC5CD6EE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CBC2422-374C-5E12-0CBF-EB894CC06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6FF9CDD-5685-43AD-6229-D4747607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과제 </a:t>
            </a:r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NASA Case_2565</a:t>
            </a:r>
            <a:endParaRPr kumimoji="1" lang="ko-KR" altLang="en-US" sz="4000" b="1" dirty="0">
              <a:latin typeface="NANUMGOTHIC EXTRABOLD" panose="020D0604000000000000" pitchFamily="34" charset="-127"/>
              <a:ea typeface="NANUMGOTHIC EXTRABOLD" panose="020D0604000000000000" pitchFamily="34" charset="-127"/>
              <a:cs typeface="Gill Sans" panose="020B0502020104020203" pitchFamily="34" charset="-79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7AE110C0-0E60-CEB6-86D2-522CFDEADA31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내용 개체 틀 4" descr="폰트, 화이트, 친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C84530-EB5E-51C1-3A39-130C2DC17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223282" y="1240642"/>
            <a:ext cx="2401345" cy="1498929"/>
          </a:xfrm>
        </p:spPr>
      </p:pic>
      <p:pic>
        <p:nvPicPr>
          <p:cNvPr id="8" name="그림 7" descr="텍스트, 폰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F76988-B67C-6AE2-FE3B-74036B891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11" y="5058867"/>
            <a:ext cx="2806700" cy="1600200"/>
          </a:xfrm>
          <a:prstGeom prst="rect">
            <a:avLst/>
          </a:prstGeom>
        </p:spPr>
      </p:pic>
      <p:pic>
        <p:nvPicPr>
          <p:cNvPr id="14" name="그림 13" descr="폰트, 화이트, 텍스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A9EFFE-BABE-5543-BB44-CDC5460B8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5527" y="4861422"/>
            <a:ext cx="2159000" cy="939800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3B30A499-2253-0B69-0697-DF07E348B0CE}"/>
              </a:ext>
            </a:extLst>
          </p:cNvPr>
          <p:cNvGrpSpPr/>
          <p:nvPr/>
        </p:nvGrpSpPr>
        <p:grpSpPr>
          <a:xfrm>
            <a:off x="8882772" y="2925453"/>
            <a:ext cx="2806700" cy="1803280"/>
            <a:chOff x="4660900" y="2574563"/>
            <a:chExt cx="2781622" cy="1927988"/>
          </a:xfrm>
        </p:grpSpPr>
        <p:pic>
          <p:nvPicPr>
            <p:cNvPr id="12" name="그림 11" descr="텍스트, 폰트, 화이트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DDD73FF-E2D7-059A-6997-770A0E68C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15498" r="28895" b="6651"/>
            <a:stretch>
              <a:fillRect/>
            </a:stretch>
          </p:blipFill>
          <p:spPr>
            <a:xfrm>
              <a:off x="4660900" y="2574563"/>
              <a:ext cx="2040842" cy="1927981"/>
            </a:xfrm>
            <a:prstGeom prst="rect">
              <a:avLst/>
            </a:prstGeom>
          </p:spPr>
        </p:pic>
        <p:sp>
          <p:nvSpPr>
            <p:cNvPr id="15" name="내용 개체 틀 6">
              <a:extLst>
                <a:ext uri="{FF2B5EF4-FFF2-40B4-BE49-F238E27FC236}">
                  <a16:creationId xmlns:a16="http://schemas.microsoft.com/office/drawing/2014/main" id="{814574F9-0748-13F6-4F0B-70FBB3DFB336}"/>
                </a:ext>
              </a:extLst>
            </p:cNvPr>
            <p:cNvSpPr txBox="1">
              <a:spLocks/>
            </p:cNvSpPr>
            <p:nvPr/>
          </p:nvSpPr>
          <p:spPr>
            <a:xfrm>
              <a:off x="6701742" y="2574563"/>
              <a:ext cx="740780" cy="192798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ko-KR" sz="1800" b="1" dirty="0">
                  <a:latin typeface="Batang" panose="02030600000101010101" pitchFamily="18" charset="-127"/>
                  <a:ea typeface="Batang" panose="02030600000101010101" pitchFamily="18" charset="-127"/>
                </a:rPr>
                <a:t>0.5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ko-KR" sz="1800" b="1" dirty="0">
                  <a:latin typeface="Batang" panose="02030600000101010101" pitchFamily="18" charset="-127"/>
                  <a:ea typeface="Batang" panose="02030600000101010101" pitchFamily="18" charset="-127"/>
                </a:rPr>
                <a:t>0.68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ko-KR" sz="1800" b="1" dirty="0">
                  <a:latin typeface="Batang" panose="02030600000101010101" pitchFamily="18" charset="-127"/>
                  <a:ea typeface="Batang" panose="02030600000101010101" pitchFamily="18" charset="-127"/>
                </a:rPr>
                <a:t>0.80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ko-KR" sz="1800" b="1" dirty="0">
                  <a:latin typeface="Batang" panose="02030600000101010101" pitchFamily="18" charset="-127"/>
                  <a:ea typeface="Batang" panose="02030600000101010101" pitchFamily="18" charset="-127"/>
                </a:rPr>
                <a:t>0.89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ko-KR" sz="1800" b="1" dirty="0">
                  <a:latin typeface="Batang" panose="02030600000101010101" pitchFamily="18" charset="-127"/>
                  <a:ea typeface="Batang" panose="02030600000101010101" pitchFamily="18" charset="-127"/>
                </a:rPr>
                <a:t>0.96</a:t>
              </a:r>
              <a:endParaRPr lang="ko-KR" altLang="en-US" sz="1800" b="1" dirty="0">
                <a:latin typeface="Batang" panose="02030600000101010101" pitchFamily="18" charset="-127"/>
                <a:ea typeface="Batang" panose="02030600000101010101" pitchFamily="18" charset="-127"/>
              </a:endParaRPr>
            </a:p>
          </p:txBody>
        </p:sp>
      </p:grp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7E585B7D-F55F-315E-E9DC-8FEFCE294F2A}"/>
              </a:ext>
            </a:extLst>
          </p:cNvPr>
          <p:cNvSpPr txBox="1">
            <a:spLocks/>
          </p:cNvSpPr>
          <p:nvPr/>
        </p:nvSpPr>
        <p:spPr>
          <a:xfrm>
            <a:off x="379639" y="1305518"/>
            <a:ext cx="11497935" cy="46284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다음과 같은 공식을 이용하여 엑셀을 통해</a:t>
            </a:r>
            <a:endParaRPr kumimoji="1"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None/>
            </a:pP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</a:t>
            </a:r>
            <a:r>
              <a:rPr kumimoji="1" lang="en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Sect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값과</a:t>
            </a:r>
            <a:r>
              <a:rPr kumimoji="1" lang="en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Cp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값을 구합니다</a:t>
            </a:r>
            <a:r>
              <a:rPr kumimoji="1" lang="en-US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endParaRPr kumimoji="1" lang="en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kumimoji="1" lang="en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buFontTx/>
              <a:buChar char="-"/>
            </a:pPr>
            <a:endParaRPr kumimoji="1"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kumimoji="1"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0" name="그림 19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ED2741-C23C-2F67-CD6A-15D855BAF7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751" y="2294474"/>
            <a:ext cx="7772400" cy="132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52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9312CD-B93E-476C-E65C-B182C8BAC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9E265FF-ADD4-67B9-AE62-DC2F9BD67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9103321-FEC9-4DF6-E476-F7F95F8DD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과제 </a:t>
            </a:r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NASA Case_2565</a:t>
            </a:r>
            <a:endParaRPr kumimoji="1" lang="ko-KR" altLang="en-US" sz="4000" b="1" dirty="0">
              <a:latin typeface="NANUMGOTHIC EXTRABOLD" panose="020D0604000000000000" pitchFamily="34" charset="-127"/>
              <a:ea typeface="NANUMGOTHIC EXTRABOLD" panose="020D0604000000000000" pitchFamily="34" charset="-127"/>
              <a:cs typeface="Gill Sans" panose="020B0502020104020203" pitchFamily="34" charset="-79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8575170D-8BC9-1AF7-D673-C7EE213A0553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A8274B34-B098-70ED-4D42-DB2FE19E49CF}"/>
              </a:ext>
            </a:extLst>
          </p:cNvPr>
          <p:cNvSpPr txBox="1">
            <a:spLocks/>
          </p:cNvSpPr>
          <p:nvPr/>
        </p:nvSpPr>
        <p:spPr>
          <a:xfrm>
            <a:off x="379639" y="1305518"/>
            <a:ext cx="11497935" cy="46284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kumimoji="1" lang="en-US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Naca </a:t>
            </a:r>
            <a:r>
              <a:rPr kumimoji="1" lang="en-US" altLang="ko-KR" sz="20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caradonna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에서 가져온 값에서 </a:t>
            </a:r>
            <a:r>
              <a:rPr kumimoji="1" lang="en-US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Cp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값을 변경하기 위해</a:t>
            </a:r>
            <a:endParaRPr kumimoji="1"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None/>
            </a:pP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</a:t>
            </a:r>
            <a:r>
              <a:rPr kumimoji="1" lang="en-US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-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  <a:r>
              <a:rPr kumimoji="1" lang="ko-KR" alt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로 전환하여 비교 그래프를 그려줍니다</a:t>
            </a:r>
            <a:r>
              <a:rPr kumimoji="1" lang="en-US" altLang="ko-KR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endParaRPr kumimoji="1" lang="en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kumimoji="1" lang="en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buFontTx/>
              <a:buChar char="-"/>
            </a:pPr>
            <a:endParaRPr kumimoji="1"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kumimoji="1"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297034-ECF2-AADC-2E86-6FD6D597053D}"/>
              </a:ext>
            </a:extLst>
          </p:cNvPr>
          <p:cNvGrpSpPr/>
          <p:nvPr/>
        </p:nvGrpSpPr>
        <p:grpSpPr>
          <a:xfrm>
            <a:off x="846346" y="2733317"/>
            <a:ext cx="2806701" cy="3662645"/>
            <a:chOff x="8254144" y="2107817"/>
            <a:chExt cx="2806701" cy="3662645"/>
          </a:xfrm>
        </p:grpSpPr>
        <p:pic>
          <p:nvPicPr>
            <p:cNvPr id="6" name="그림 5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BC39134-5D17-FCF0-920A-21C5E1D2B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54144" y="2107817"/>
              <a:ext cx="2806701" cy="3662645"/>
            </a:xfrm>
            <a:prstGeom prst="rect">
              <a:avLst/>
            </a:prstGeom>
          </p:spPr>
        </p:pic>
        <p:sp>
          <p:nvSpPr>
            <p:cNvPr id="7" name="액자 6">
              <a:extLst>
                <a:ext uri="{FF2B5EF4-FFF2-40B4-BE49-F238E27FC236}">
                  <a16:creationId xmlns:a16="http://schemas.microsoft.com/office/drawing/2014/main" id="{6A7C9071-8179-3C65-37F4-E499D612B0BA}"/>
                </a:ext>
              </a:extLst>
            </p:cNvPr>
            <p:cNvSpPr/>
            <p:nvPr/>
          </p:nvSpPr>
          <p:spPr>
            <a:xfrm>
              <a:off x="10116273" y="2268639"/>
              <a:ext cx="833378" cy="3379808"/>
            </a:xfrm>
            <a:prstGeom prst="frame">
              <a:avLst>
                <a:gd name="adj1" fmla="val 1389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1" name="그림 20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730E01-1C3A-6F31-16D1-C99D90DFA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214" y="2267386"/>
            <a:ext cx="6848194" cy="412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45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4ED169-9446-0533-E13B-3251910B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2633B15-726A-D548-A50F-77CA6F4AB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534A22C-8E05-7B14-FF3A-3ED872B57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과제 </a:t>
            </a:r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NASA Case_2565</a:t>
            </a:r>
            <a:endParaRPr kumimoji="1" lang="ko-KR" altLang="en-US" sz="4000" b="1" dirty="0">
              <a:latin typeface="NANUMGOTHIC EXTRABOLD" panose="020D0604000000000000" pitchFamily="34" charset="-127"/>
              <a:ea typeface="NANUMGOTHIC EXTRABOLD" panose="020D0604000000000000" pitchFamily="34" charset="-127"/>
              <a:cs typeface="Gill Sans" panose="020B0502020104020203" pitchFamily="34" charset="-79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8399490E-8D08-FA2F-208A-3C1E1ED05F54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그림 3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74175F-DAC5-5DCA-9DB0-43EF383C3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29" y="1156658"/>
            <a:ext cx="6000442" cy="3505094"/>
          </a:xfrm>
          <a:prstGeom prst="rect">
            <a:avLst/>
          </a:prstGeom>
        </p:spPr>
      </p:pic>
      <p:pic>
        <p:nvPicPr>
          <p:cNvPr id="8" name="그림 7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C4FB7F-3B5B-B6D5-5ED9-FDB0F3153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071" y="3018083"/>
            <a:ext cx="5848257" cy="362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74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6AB813-A93A-6E9C-478F-CBCF4BC0D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93F99A5-4DE2-C06E-F721-144A35D65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9B5AEE9-5746-2DCB-6DEF-F764ECE6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과제 </a:t>
            </a:r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NASA Case_2565</a:t>
            </a:r>
            <a:endParaRPr kumimoji="1" lang="ko-KR" altLang="en-US" sz="4000" b="1" dirty="0">
              <a:latin typeface="NANUMGOTHIC EXTRABOLD" panose="020D0604000000000000" pitchFamily="34" charset="-127"/>
              <a:ea typeface="NANUMGOTHIC EXTRABOLD" panose="020D0604000000000000" pitchFamily="34" charset="-127"/>
              <a:cs typeface="Gill Sans" panose="020B0502020104020203" pitchFamily="34" charset="-79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B1CB6186-327F-46EF-66DB-0CF389FDECB4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그림 4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E3695C-3F8E-5325-D37D-499F8555F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29" y="1125814"/>
            <a:ext cx="5932371" cy="3954914"/>
          </a:xfrm>
          <a:prstGeom prst="rect">
            <a:avLst/>
          </a:prstGeom>
        </p:spPr>
      </p:pic>
      <p:pic>
        <p:nvPicPr>
          <p:cNvPr id="7" name="그림 6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F8984D-D98A-8F3E-BD71-A1B2FFADB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771" y="2986268"/>
            <a:ext cx="5922557" cy="366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7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1197</TotalTime>
  <Words>170</Words>
  <Application>Microsoft Macintosh PowerPoint</Application>
  <PresentationFormat>와이드스크린</PresentationFormat>
  <Paragraphs>43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NanumGothic</vt:lpstr>
      <vt:lpstr>Malgun Gothic</vt:lpstr>
      <vt:lpstr>Malgun Gothic</vt:lpstr>
      <vt:lpstr>Batang</vt:lpstr>
      <vt:lpstr>NANUMGOTHIC EXTRABOLD</vt:lpstr>
      <vt:lpstr>Arial</vt:lpstr>
      <vt:lpstr>Office 테마</vt:lpstr>
      <vt:lpstr>전산유체해석실습 보고서</vt:lpstr>
      <vt:lpstr>SU2 실습 과제 NASA Case_2565</vt:lpstr>
      <vt:lpstr>SU2 실습 과제 NASA Case_2565</vt:lpstr>
      <vt:lpstr>SU2 실습 과제 NASA Case_2565</vt:lpstr>
      <vt:lpstr>SU2 실습 과제 NASA Case_2565</vt:lpstr>
      <vt:lpstr>SU2 실습 과제 NASA Case_2565</vt:lpstr>
      <vt:lpstr>SU2 실습 과제 NASA Case_2565</vt:lpstr>
      <vt:lpstr>SU2 실습 과제 NASA Case_2565</vt:lpstr>
      <vt:lpstr>SU2 실습 과제 NASA Case_2565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수연 유</dc:creator>
  <cp:lastModifiedBy>수연 유</cp:lastModifiedBy>
  <cp:revision>27</cp:revision>
  <dcterms:created xsi:type="dcterms:W3CDTF">2025-09-17T02:49:37Z</dcterms:created>
  <dcterms:modified xsi:type="dcterms:W3CDTF">2025-11-26T12:34:11Z</dcterms:modified>
</cp:coreProperties>
</file>